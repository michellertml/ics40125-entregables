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3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7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DF-49A6-A586-1FD14481C4A5}"/>
              </c:ext>
            </c:extLst>
          </c:dPt>
          <c:dPt>
            <c:idx val="1"/>
            <c:bubble3D val="0"/>
            <c:spPr>
              <a:solidFill>
                <a:srgbClr val="C85D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DF-49A6-A586-1FD14481C4A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DF-49A6-A586-1FD14481C4A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DF-49A6-A586-1FD14481C4A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Permanece</c:v>
                </c:pt>
                <c:pt idx="1">
                  <c:v>Churn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7963</c:v>
                </c:pt>
                <c:pt idx="1">
                  <c:v>2037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DF-49A6-A586-1FD14481C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70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0037" y="1494472"/>
            <a:ext cx="777240" cy="777240"/>
          </a:xfrm>
          <a:prstGeom prst="rect">
            <a:avLst/>
          </a:prstGeom>
          <a:solidFill>
            <a:srgbClr val="1F9D8A">
              <a:alpha val="70000"/>
            </a:srgbClr>
          </a:solidFill>
          <a:ln w="12700">
            <a:solidFill>
              <a:srgbClr val="1F9D8A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5166360"/>
            <a:ext cx="548640" cy="548640"/>
          </a:xfrm>
          <a:prstGeom prst="rect">
            <a:avLst/>
          </a:prstGeom>
          <a:solidFill>
            <a:srgbClr val="F3B23C">
              <a:alpha val="70000"/>
            </a:srgbClr>
          </a:solidFill>
          <a:ln w="12700">
            <a:solidFill>
              <a:srgbClr val="F3B23C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64008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Predicción de Churn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ABC Bank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560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F1"/>
                </a:solidFill>
              </a:rPr>
              <a:t>De datos a decisiones de retención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0424160" cy="1234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3584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B23C"/>
                </a:solidFill>
              </a:rPr>
              <a:t>Objetivo de negocio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90448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Anticipar qué clientes podrían abandonar el banco y priorizar campañas de retención con base en riesgo, valor y costo económico.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7F1"/>
                </a:solidFill>
              </a:rPr>
              <a:t>Nicolás Collao | Ignacio Ponce | Michelle Retamales
Profesor: Francisco Alfaro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DCE7F1"/>
                </a:solidFill>
              </a:rPr>
              <a:t>Curso</a:t>
            </a:r>
            <a:r>
              <a:rPr lang="en-US" sz="950" dirty="0">
                <a:solidFill>
                  <a:srgbClr val="DCE7F1"/>
                </a:solidFill>
              </a:rPr>
              <a:t>: ICS-40125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DCE7F1"/>
                </a:solidFill>
              </a:rPr>
              <a:t>Fecha: 03/07/2026</a:t>
            </a:r>
            <a:endParaRPr lang="en-US" sz="950" dirty="0"/>
          </a:p>
        </p:txBody>
      </p:sp>
      <p:pic>
        <p:nvPicPr>
          <p:cNvPr id="10" name="drawing">
            <a:extLst>
              <a:ext uri="{FF2B5EF4-FFF2-40B4-BE49-F238E27FC236}">
                <a16:creationId xmlns:a16="http://schemas.microsoft.com/office/drawing/2014/main" id="{1A976D37-603C-1A73-7E52-A88557008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2752" y="234315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Nicolás Collao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Ruta de exposición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32461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85800" y="1965960"/>
            <a:ext cx="3246120" cy="10972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Nicolás Collao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2651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633"/>
                </a:solidFill>
              </a:rPr>
              <a:t>Problema, datos y EDA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673"/>
                </a:solidFill>
              </a:rPr>
              <a:t>Slides 1-4 | 4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965960"/>
            <a:ext cx="32461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80560" y="1965960"/>
            <a:ext cx="3246120" cy="109728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0916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Ignacio Ponce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2834640"/>
            <a:ext cx="2651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633"/>
                </a:solidFill>
              </a:rPr>
              <a:t>Modelos, métricas y umbral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673"/>
                </a:solidFill>
              </a:rPr>
              <a:t>Slides 5-8 | 4-5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75320" y="1965960"/>
            <a:ext cx="32461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275320" y="1965960"/>
            <a:ext cx="3246120" cy="109728"/>
          </a:xfrm>
          <a:prstGeom prst="rect">
            <a:avLst/>
          </a:prstGeom>
          <a:solidFill>
            <a:srgbClr val="F3B23C"/>
          </a:solidFill>
          <a:ln w="12700">
            <a:solidFill>
              <a:srgbClr val="F3B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0392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Michelle Retamales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2834640"/>
            <a:ext cx="2651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633"/>
                </a:solidFill>
              </a:rPr>
              <a:t>Segmentos, acciones y cierre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673"/>
                </a:solidFill>
              </a:rPr>
              <a:t>Slides 9-12 | 4-5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5257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Mensaje central: el modelo no reemplaza la decisión comercial; ayuda a priorizar clientes y diseñar intervenciones más eficientes.</a:t>
            </a:r>
            <a:endParaRPr lang="en-US" sz="1600" dirty="0"/>
          </a:p>
        </p:txBody>
      </p:sp>
      <p:pic>
        <p:nvPicPr>
          <p:cNvPr id="27" name="drawing">
            <a:extLst>
              <a:ext uri="{FF2B5EF4-FFF2-40B4-BE49-F238E27FC236}">
                <a16:creationId xmlns:a16="http://schemas.microsoft.com/office/drawing/2014/main" id="{E17AEDE6-6CFA-0429-1B0D-3CC75FB67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22" y="136016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Nicolás Collao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1. Problema de negocio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¿Por qué predecir churn es valioso para ABC Bank?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5D5D"/>
                </a:solidFill>
              </a:rPr>
              <a:t>20,37%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248716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clientes abandonan el banco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77B4"/>
                </a:solidFill>
              </a:rPr>
              <a:t>10.000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94760" y="248716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clientes analizados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8A"/>
                </a:solidFill>
              </a:rPr>
              <a:t>0,31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248716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umbral económico recomendado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886200"/>
            <a:ext cx="10469880" cy="1325880"/>
          </a:xfrm>
          <a:prstGeom prst="roundRect">
            <a:avLst>
              <a:gd name="adj" fmla="val 8276"/>
            </a:avLst>
          </a:prstGeom>
          <a:solidFill>
            <a:srgbClr val="E8F3F7"/>
          </a:solidFill>
          <a:ln w="12700">
            <a:solidFill>
              <a:srgbClr val="D4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51560" y="4096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Traducción a negocio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46227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C2633"/>
                </a:solidFill>
              </a:rPr>
              <a:t>El desafío no es solo predecir quién se va, sino decidir a quién contactar primero para reducir pérdidas sin malgastar presupuesto de retención.</a:t>
            </a:r>
            <a:endParaRPr lang="en-US" sz="1500" dirty="0"/>
          </a:p>
        </p:txBody>
      </p:sp>
      <p:pic>
        <p:nvPicPr>
          <p:cNvPr id="20" name="drawing">
            <a:extLst>
              <a:ext uri="{FF2B5EF4-FFF2-40B4-BE49-F238E27FC236}">
                <a16:creationId xmlns:a16="http://schemas.microsoft.com/office/drawing/2014/main" id="{932E7712-708D-9D92-FD0D-DD6A46183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5080" y="117730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Nicolás Collao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2. Hallazgos clave del EDA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La exploración guió el preprocesamiento y las hipótesis del modelo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4</a:t>
            </a:r>
            <a:endParaRPr lang="en-US" sz="7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31520" y="1828800"/>
          <a:ext cx="34747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461772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Edad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63640" y="1828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C2633"/>
                </a:solidFill>
              </a:rPr>
              <a:t>El churn aumenta con fuerza en grupos de 41-60 años.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1772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Actividad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3640" y="26060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C2633"/>
                </a:solidFill>
              </a:rPr>
              <a:t>Clientes inactivos duplican aproximadamente el abandono observado.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17720" y="3383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Productos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33832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C2633"/>
                </a:solidFill>
              </a:rPr>
              <a:t>Dos productos es el perfil más estable; uno, tres o cuatro elevan el riesgo.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61772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País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41605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C2633"/>
                </a:solidFill>
              </a:rPr>
              <a:t>Alemania concentra el mayor riesgo relativo.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724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3"/>
                </a:solidFill>
              </a:rPr>
              <a:t>Calidad de datos: sin valores faltantes y sin duplicados exactos relevantes. Se mantuvieron atípicos porque pueden representar clientes reales.</a:t>
            </a:r>
            <a:endParaRPr lang="en-US" sz="1150" dirty="0"/>
          </a:p>
        </p:txBody>
      </p:sp>
      <p:pic>
        <p:nvPicPr>
          <p:cNvPr id="21" name="drawing">
            <a:extLst>
              <a:ext uri="{FF2B5EF4-FFF2-40B4-BE49-F238E27FC236}">
                <a16:creationId xmlns:a16="http://schemas.microsoft.com/office/drawing/2014/main" id="{1438E6CE-A016-163B-FE53-39DFE8DF1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0595" y="165734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Ignacio Ponce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89411" y="654231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3. Preparación y estrategia de modelado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Cuatro modelos, misma base de comparación y separación estratificada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617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 | Slide 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4800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78408" y="2121408"/>
            <a:ext cx="438912" cy="438912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78408" y="22128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63624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Variables categóricas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63624" y="2377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673"/>
                </a:solidFill>
              </a:rPr>
              <a:t>One-Hot Encoding para país y género.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4800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64808" y="2121408"/>
            <a:ext cx="438912" cy="438912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64808" y="22128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50024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Escalamiento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50024" y="2377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673"/>
                </a:solidFill>
              </a:rPr>
              <a:t>RobustScaler para reducir efecto de valores extremos.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383280"/>
            <a:ext cx="4800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78408" y="3630168"/>
            <a:ext cx="438912" cy="438912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78408" y="372160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63624" y="3584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Balance de clases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63624" y="3886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673"/>
                </a:solidFill>
              </a:rPr>
              <a:t>Pesos de clase y separación estratificada.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383280"/>
            <a:ext cx="4800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Shape 25"/>
          <p:cNvSpPr/>
          <p:nvPr/>
        </p:nvSpPr>
        <p:spPr>
          <a:xfrm>
            <a:off x="6464808" y="3630168"/>
            <a:ext cx="438912" cy="438912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64808" y="372160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50024" y="3584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Modelos evaluados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0024" y="3886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673"/>
                </a:solidFill>
              </a:rPr>
              <a:t>Regresión logística, árbol, random forest y gradient boosting.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5394960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Criterio de evaluación: ROC-AUC como métrica principal, complementada con precision, recall, F1-score, matriz de confusión y costo económico.</a:t>
            </a:r>
            <a:endParaRPr lang="en-US" sz="1350" dirty="0"/>
          </a:p>
        </p:txBody>
      </p:sp>
      <p:pic>
        <p:nvPicPr>
          <p:cNvPr id="32" name="drawing">
            <a:extLst>
              <a:ext uri="{FF2B5EF4-FFF2-40B4-BE49-F238E27FC236}">
                <a16:creationId xmlns:a16="http://schemas.microsoft.com/office/drawing/2014/main" id="{9853DFB1-4702-2B5A-A605-937CE3041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9837" y="168456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Ignacio Ponce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4. Comparación de modelos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Gradient Boosting obtuvo la mayor capacidad de discriminación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2492197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" y="1901952"/>
            <a:ext cx="23641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Modelo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177997" y="1828800"/>
            <a:ext cx="1408633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42005" y="1901952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ROC-AUC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586630" y="1828800"/>
            <a:ext cx="1408633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50638" y="1901952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PR-AUC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995264" y="1828800"/>
            <a:ext cx="1408633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059272" y="1901952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Recall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403897" y="1828800"/>
            <a:ext cx="1408633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467905" y="1901952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F1-score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8812530" y="1828800"/>
            <a:ext cx="2708910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876538" y="1901952"/>
            <a:ext cx="2580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Lectura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85800" y="2258568"/>
            <a:ext cx="2492197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49808" y="2331720"/>
            <a:ext cx="23641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Gradient Boosting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3177997" y="2258568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242005" y="2331720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0,871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586630" y="2258568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50638" y="2331720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0,718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995264" y="2258568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059272" y="2331720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0,757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403897" y="2258568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467905" y="2331720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0,606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812530" y="2258568"/>
            <a:ext cx="2708910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76538" y="2331720"/>
            <a:ext cx="2580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Mejor desempeño global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85800" y="2688336"/>
            <a:ext cx="2492197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49808" y="2761488"/>
            <a:ext cx="23641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Random Forest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3177997" y="2688336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242005" y="2761488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0,865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586630" y="2688336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650638" y="2761488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0,697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5995264" y="2688336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059272" y="2761488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0,705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7403897" y="2688336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467905" y="2761488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0,629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8812530" y="2688336"/>
            <a:ext cx="270891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876538" y="2761488"/>
            <a:ext cx="2580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Muy competitivo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685800" y="3118104"/>
            <a:ext cx="2492197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49808" y="3191256"/>
            <a:ext cx="23641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Árbol de Decisión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3177997" y="3118104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3242005" y="3191256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0,843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4586630" y="3118104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650638" y="3191256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0,645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5995264" y="3118104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059272" y="3191256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0,769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7403897" y="3118104"/>
            <a:ext cx="1408633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467905" y="3191256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0,571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8812530" y="3118104"/>
            <a:ext cx="2708910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876538" y="3191256"/>
            <a:ext cx="2580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Simple, menor estabilidad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685800" y="3547872"/>
            <a:ext cx="2492197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749808" y="3621024"/>
            <a:ext cx="23641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Regresión Logística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3177997" y="3547872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3242005" y="3621024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0,777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4586630" y="3547872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650638" y="3621024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0,468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5995264" y="3547872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6059272" y="3621024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0,705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7403897" y="3547872"/>
            <a:ext cx="140863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467905" y="3621024"/>
            <a:ext cx="12806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0,502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8812530" y="3547872"/>
            <a:ext cx="270891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8876538" y="3621024"/>
            <a:ext cx="2580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Baseline interpretable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1143000" y="48097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C2633"/>
                </a:solidFill>
              </a:rPr>
              <a:t>G. Boosting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651760" y="4764024"/>
            <a:ext cx="7680960" cy="157163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2651760" y="4764024"/>
            <a:ext cx="7433462" cy="157163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10405872" y="480060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0,871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1143000" y="509549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C2633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651760" y="5049774"/>
            <a:ext cx="7680960" cy="157163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2651760" y="5049774"/>
            <a:ext cx="7382256" cy="157163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10405872" y="508635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0,865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1143000" y="53812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C2633"/>
                </a:solidFill>
              </a:rPr>
              <a:t>Árbol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651760" y="5335524"/>
            <a:ext cx="7680960" cy="157163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2651760" y="5335524"/>
            <a:ext cx="7194499" cy="157163"/>
          </a:xfrm>
          <a:prstGeom prst="rect">
            <a:avLst/>
          </a:prstGeom>
          <a:solidFill>
            <a:srgbClr val="F3B23C"/>
          </a:solidFill>
          <a:ln w="12700">
            <a:solidFill>
              <a:srgbClr val="F3B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10405872" y="537210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0,843</a:t>
            </a:r>
            <a:endParaRPr lang="en-US" sz="720" dirty="0"/>
          </a:p>
        </p:txBody>
      </p:sp>
      <p:sp>
        <p:nvSpPr>
          <p:cNvPr id="83" name="Text 81"/>
          <p:cNvSpPr/>
          <p:nvPr/>
        </p:nvSpPr>
        <p:spPr>
          <a:xfrm>
            <a:off x="1143000" y="566699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C2633"/>
                </a:solidFill>
              </a:rPr>
              <a:t>Logística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651760" y="5621274"/>
            <a:ext cx="7680960" cy="157163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2651760" y="5621274"/>
            <a:ext cx="6631229" cy="157163"/>
          </a:xfrm>
          <a:prstGeom prst="rect">
            <a:avLst/>
          </a:prstGeom>
          <a:solidFill>
            <a:srgbClr val="C85D5D"/>
          </a:solidFill>
          <a:ln w="12700">
            <a:solidFill>
              <a:srgbClr val="C85D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10405872" y="565785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0,777</a:t>
            </a:r>
            <a:endParaRPr lang="en-US" sz="720" dirty="0"/>
          </a:p>
        </p:txBody>
      </p:sp>
      <p:pic>
        <p:nvPicPr>
          <p:cNvPr id="87" name="drawing">
            <a:extLst>
              <a:ext uri="{FF2B5EF4-FFF2-40B4-BE49-F238E27FC236}">
                <a16:creationId xmlns:a16="http://schemas.microsoft.com/office/drawing/2014/main" id="{73EF0309-8D3D-0044-4581-ECD3C4D67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2888" y="116586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Ignacio Ponce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461555" y="112471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5. Modelo seleccionado: Gradient Boosting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06949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Seleccionado por desempeño y capacidad para capturar relaciones no lineales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555" y="1979458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7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00100" y="2286000"/>
            <a:ext cx="2971800" cy="3291840"/>
          </a:xfrm>
          <a:prstGeom prst="roundRect">
            <a:avLst>
              <a:gd name="adj" fmla="val 3692"/>
            </a:avLst>
          </a:prstGeom>
          <a:solidFill>
            <a:srgbClr val="E8F3F7"/>
          </a:solidFill>
          <a:ln w="12700">
            <a:solidFill>
              <a:srgbClr val="D4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8A"/>
                </a:solidFill>
              </a:rPr>
              <a:t>0,871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60120" y="2898648"/>
            <a:ext cx="2606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ROC-AUC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502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77B4"/>
                </a:solidFill>
              </a:rPr>
              <a:t>0,718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60120" y="4069080"/>
            <a:ext cx="2606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PR-AUC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572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C2633"/>
                </a:solidFill>
              </a:rPr>
              <a:t>Buen balance entre detectar clientes que se van y ordenar bien los niveles de riesgo.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251960" y="2734057"/>
            <a:ext cx="667512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1C2633"/>
                </a:solidFill>
              </a:rPr>
              <a:t>Aprende patrones secuencialmente: cada árbol corrige errores del anterior.</a:t>
            </a:r>
            <a:endParaRPr lang="en-US" sz="1400" dirty="0"/>
          </a:p>
          <a:p>
            <a:r>
              <a:rPr lang="en-US" sz="1400" dirty="0">
                <a:solidFill>
                  <a:srgbClr val="1C2633"/>
                </a:solidFill>
              </a:rPr>
              <a:t>Captura interacciones entre edad, actividad, país, saldo y productos.</a:t>
            </a:r>
            <a:endParaRPr lang="en-US" sz="1400" dirty="0"/>
          </a:p>
          <a:p>
            <a:r>
              <a:rPr lang="en-US" sz="1400" dirty="0">
                <a:solidFill>
                  <a:srgbClr val="1C2633"/>
                </a:solidFill>
              </a:rPr>
              <a:t>Es adecuado para datos tabulares con relaciones no lineales.</a:t>
            </a:r>
            <a:endParaRPr lang="en-US" sz="1400" dirty="0"/>
          </a:p>
          <a:p>
            <a:r>
              <a:rPr lang="en-US" sz="1400" dirty="0">
                <a:solidFill>
                  <a:srgbClr val="1C2633"/>
                </a:solidFill>
              </a:rPr>
              <a:t>No se elige solo por accuracy; se prioriza valor de negocio.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1960" y="429768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Limitación: las probabilidades no son perfectas. Se recomienda usarlo como ranking de prioridad y calibrarlo si pasa a producción.</a:t>
            </a:r>
            <a:endParaRPr lang="en-US" sz="1250" dirty="0"/>
          </a:p>
        </p:txBody>
      </p:sp>
      <p:pic>
        <p:nvPicPr>
          <p:cNvPr id="19" name="drawing">
            <a:extLst>
              <a:ext uri="{FF2B5EF4-FFF2-40B4-BE49-F238E27FC236}">
                <a16:creationId xmlns:a16="http://schemas.microsoft.com/office/drawing/2014/main" id="{0F2614BA-CF34-42AF-DE14-873AF4D8D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8065" y="115443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Ignacio Ponce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6. Umbral óptimo de negocio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El umbral 0,31 prioriza capturar clientes en riesgo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8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Comparación de criterios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1824228" cy="422910"/>
          </a:xfrm>
          <a:prstGeom prst="rect">
            <a:avLst/>
          </a:prstGeom>
          <a:solidFill>
            <a:srgbClr val="1F9D8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8" y="2313432"/>
            <a:ext cx="169621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Criterio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555748" y="2240280"/>
            <a:ext cx="864108" cy="422910"/>
          </a:xfrm>
          <a:prstGeom prst="rect">
            <a:avLst/>
          </a:prstGeom>
          <a:solidFill>
            <a:srgbClr val="1F9D8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619756" y="2313432"/>
            <a:ext cx="73609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Umbral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419856" y="2240280"/>
            <a:ext cx="2112264" cy="422910"/>
          </a:xfrm>
          <a:prstGeom prst="rect">
            <a:avLst/>
          </a:prstGeom>
          <a:solidFill>
            <a:srgbClr val="1F9D8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483864" y="2313432"/>
            <a:ext cx="1984248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Efecto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31520" y="2663190"/>
            <a:ext cx="1824228" cy="42291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95528" y="2736342"/>
            <a:ext cx="169621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Tradicional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2555748" y="2663190"/>
            <a:ext cx="864108" cy="42291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19756" y="2736342"/>
            <a:ext cx="73609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0,50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3419856" y="2663190"/>
            <a:ext cx="2112264" cy="42291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483864" y="2736342"/>
            <a:ext cx="1984248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Más precisión, pero pierde más churners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31520" y="3086100"/>
            <a:ext cx="1824228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95528" y="3159252"/>
            <a:ext cx="169621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F1-score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2555748" y="3086100"/>
            <a:ext cx="864108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619756" y="3159252"/>
            <a:ext cx="73609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0,63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3419856" y="3086100"/>
            <a:ext cx="2112264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483864" y="3159252"/>
            <a:ext cx="1984248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Mejor balance estadístico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731520" y="3509010"/>
            <a:ext cx="1824228" cy="42291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95528" y="3582162"/>
            <a:ext cx="169621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Costo económico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2555748" y="3509010"/>
            <a:ext cx="864108" cy="42291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619756" y="3582162"/>
            <a:ext cx="736092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0,31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3419856" y="3509010"/>
            <a:ext cx="2112264" cy="42291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483864" y="3582162"/>
            <a:ext cx="1984248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Menor costo estimado y mayor recall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6126480" y="2057400"/>
            <a:ext cx="4983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40080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8A"/>
                </a:solidFill>
              </a:rPr>
              <a:t>89,7%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400800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recall con umbral 0,31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73252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77B4"/>
                </a:solidFill>
              </a:rPr>
              <a:t>990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8732520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clientes contactados de 2.000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" y="489204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La decisión es económica: perder un cliente no detectado cuesta más que contactarlo preventivamente.</a:t>
            </a:r>
            <a:endParaRPr lang="en-US" sz="1500" dirty="0"/>
          </a:p>
        </p:txBody>
      </p:sp>
      <p:pic>
        <p:nvPicPr>
          <p:cNvPr id="42" name="drawing">
            <a:extLst>
              <a:ext uri="{FF2B5EF4-FFF2-40B4-BE49-F238E27FC236}">
                <a16:creationId xmlns:a16="http://schemas.microsoft.com/office/drawing/2014/main" id="{1D4758D6-10E1-7D97-0CFD-218D7CC70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6294" y="128343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Michelle Retamales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7. Segmentación por riesgo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El modelo permite separar clientes en acciones diferenciadas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 | Slide 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1283818" cy="445770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95528" y="190195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Nivel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015338" y="1828800"/>
            <a:ext cx="1283818" cy="445770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079346" y="190195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Clientes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299155" y="1828800"/>
            <a:ext cx="1711757" cy="445770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363163" y="190195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Prob. media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010912" y="1828800"/>
            <a:ext cx="1925726" cy="445770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74920" y="1901952"/>
            <a:ext cx="179771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Churn observado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36638" y="1828800"/>
            <a:ext cx="1711757" cy="445770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000646" y="190195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Churners reales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8648395" y="1828800"/>
            <a:ext cx="2781605" cy="445770"/>
          </a:xfrm>
          <a:prstGeom prst="rect">
            <a:avLst/>
          </a:prstGeom>
          <a:solidFill>
            <a:srgbClr val="0B1F3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712403" y="1901952"/>
            <a:ext cx="2653589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Acción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31520" y="2274570"/>
            <a:ext cx="1283818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95528" y="234772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Alto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2015338" y="2274570"/>
            <a:ext cx="1283818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079346" y="234772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990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299155" y="2274570"/>
            <a:ext cx="1711757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363163" y="234772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59,99%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010912" y="2274570"/>
            <a:ext cx="1925726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074920" y="2347722"/>
            <a:ext cx="179771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36,87%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936638" y="2274570"/>
            <a:ext cx="1711757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000646" y="234772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365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648395" y="2274570"/>
            <a:ext cx="2781605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712403" y="2347722"/>
            <a:ext cx="2653589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Contactar primero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31520" y="2720340"/>
            <a:ext cx="1283818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95528" y="279349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Medio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2015338" y="2720340"/>
            <a:ext cx="1283818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079346" y="279349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317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3299155" y="2720340"/>
            <a:ext cx="1711757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363163" y="279349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26,03%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5010912" y="2720340"/>
            <a:ext cx="1925726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074920" y="2793492"/>
            <a:ext cx="179771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7,26%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6936638" y="2720340"/>
            <a:ext cx="1711757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000646" y="279349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23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8648395" y="2720340"/>
            <a:ext cx="2781605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712403" y="2793492"/>
            <a:ext cx="2653589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Automatizar y monitorear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731520" y="3166110"/>
            <a:ext cx="1283818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95528" y="323926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Bajo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2015338" y="3166110"/>
            <a:ext cx="1283818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2079346" y="3239262"/>
            <a:ext cx="115580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693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3299155" y="3166110"/>
            <a:ext cx="1711757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3363163" y="323926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13,04%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5010912" y="3166110"/>
            <a:ext cx="1925726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074920" y="3239262"/>
            <a:ext cx="179771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2,74%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6936638" y="3166110"/>
            <a:ext cx="1711757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000646" y="3239262"/>
            <a:ext cx="1583741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19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8648395" y="3166110"/>
            <a:ext cx="2781605" cy="44577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712403" y="3239262"/>
            <a:ext cx="2653589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No contactar masivamente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960120" y="4251960"/>
            <a:ext cx="3063240" cy="914400"/>
          </a:xfrm>
          <a:prstGeom prst="roundRect">
            <a:avLst>
              <a:gd name="adj" fmla="val 12000"/>
            </a:avLst>
          </a:prstGeom>
          <a:solidFill>
            <a:srgbClr val="FCECEC"/>
          </a:solidFill>
          <a:ln w="12700">
            <a:solidFill>
              <a:srgbClr val="F5C2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114300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D5D"/>
                </a:solidFill>
              </a:rPr>
              <a:t>Alto riesgo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43000" y="47183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633"/>
                </a:solidFill>
              </a:rPr>
              <a:t>Intervención personalizada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526280" y="4251960"/>
            <a:ext cx="3063240" cy="914400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 w="12700">
            <a:solidFill>
              <a:srgbClr val="F3D9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470916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6E00"/>
                </a:solidFill>
              </a:rPr>
              <a:t>Riesgo medio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709160" y="47183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633"/>
                </a:solidFill>
              </a:rPr>
              <a:t>Campañas automáticas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092440" y="4251960"/>
            <a:ext cx="3063240" cy="914400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 w="12700">
            <a:solidFill>
              <a:srgbClr val="BFE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827532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67D"/>
                </a:solidFill>
              </a:rPr>
              <a:t>Bajo riesgo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8275320" y="47183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633"/>
                </a:solidFill>
              </a:rPr>
              <a:t>Monitoreo de bajo costo</a:t>
            </a:r>
            <a:endParaRPr lang="en-US" sz="1050" dirty="0"/>
          </a:p>
        </p:txBody>
      </p:sp>
      <p:pic>
        <p:nvPicPr>
          <p:cNvPr id="68" name="drawing">
            <a:extLst>
              <a:ext uri="{FF2B5EF4-FFF2-40B4-BE49-F238E27FC236}">
                <a16:creationId xmlns:a16="http://schemas.microsoft.com/office/drawing/2014/main" id="{243EFC28-3748-1A55-A6C3-063C80DFA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6017" y="118872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Michelle Retamales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8. ¿Dónde está el riesgo?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Segmentos con mayor churn observado y mayor concentración de alto riesgo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10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Churn observado por grupo etario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3408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51-60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00200" y="2295144"/>
            <a:ext cx="2103120" cy="196139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600200" y="2295144"/>
            <a:ext cx="2052295" cy="196139"/>
          </a:xfrm>
          <a:prstGeom prst="rect">
            <a:avLst/>
          </a:prstGeom>
          <a:solidFill>
            <a:srgbClr val="C85D5D"/>
          </a:solidFill>
          <a:ln w="12700">
            <a:solidFill>
              <a:srgbClr val="C85D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76472" y="233172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58,6%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82296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41-50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00200" y="2651760"/>
            <a:ext cx="2103120" cy="196139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600200" y="2651760"/>
            <a:ext cx="1225418" cy="196139"/>
          </a:xfrm>
          <a:prstGeom prst="rect">
            <a:avLst/>
          </a:prstGeom>
          <a:solidFill>
            <a:srgbClr val="F3B23C"/>
          </a:solidFill>
          <a:ln w="12700">
            <a:solidFill>
              <a:srgbClr val="F3B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776472" y="268833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35,0%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22960" y="30540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&gt;60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3008376"/>
            <a:ext cx="2103120" cy="196139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600200" y="3008376"/>
            <a:ext cx="866485" cy="196139"/>
          </a:xfrm>
          <a:prstGeom prst="rect">
            <a:avLst/>
          </a:prstGeom>
          <a:solidFill>
            <a:srgbClr val="F3B23C"/>
          </a:solidFill>
          <a:ln w="12700">
            <a:solidFill>
              <a:srgbClr val="F3B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776472" y="304495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24,7%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822960" y="34107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31-40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00200" y="3364992"/>
            <a:ext cx="2103120" cy="196139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600200" y="3364992"/>
            <a:ext cx="399943" cy="196139"/>
          </a:xfrm>
          <a:prstGeom prst="rect">
            <a:avLst/>
          </a:prstGeom>
          <a:solidFill>
            <a:srgbClr val="5BA67D"/>
          </a:solidFill>
          <a:ln w="12700">
            <a:solidFill>
              <a:srgbClr val="5BA6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776472" y="340156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11,4%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22960" y="3767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&lt;=30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00200" y="3721608"/>
            <a:ext cx="2103120" cy="196139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600200" y="3721608"/>
            <a:ext cx="219776" cy="196139"/>
          </a:xfrm>
          <a:prstGeom prst="rect">
            <a:avLst/>
          </a:prstGeom>
          <a:solidFill>
            <a:srgbClr val="5BA67D"/>
          </a:solidFill>
          <a:ln w="12700">
            <a:solidFill>
              <a:srgbClr val="5BA6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776472" y="3758184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6,3%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4709160" y="1828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Churn por productos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23408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4 prod.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2295144"/>
            <a:ext cx="1600200" cy="219456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5486400" y="2295144"/>
            <a:ext cx="1600200" cy="219456"/>
          </a:xfrm>
          <a:prstGeom prst="rect">
            <a:avLst/>
          </a:prstGeom>
          <a:solidFill>
            <a:srgbClr val="C85D5D"/>
          </a:solidFill>
          <a:ln w="12700">
            <a:solidFill>
              <a:srgbClr val="C85D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159752" y="233172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100%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663440" y="274091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3 prod.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0" y="2695194"/>
            <a:ext cx="1600200" cy="219456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486400" y="2695194"/>
            <a:ext cx="1356169" cy="219456"/>
          </a:xfrm>
          <a:prstGeom prst="rect">
            <a:avLst/>
          </a:prstGeom>
          <a:solidFill>
            <a:srgbClr val="C85D5D"/>
          </a:solidFill>
          <a:ln w="12700">
            <a:solidFill>
              <a:srgbClr val="C85D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159752" y="273177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84,8%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663440" y="31409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1 prod.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0" y="3095244"/>
            <a:ext cx="1600200" cy="219456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5486400" y="3095244"/>
            <a:ext cx="426453" cy="219456"/>
          </a:xfrm>
          <a:prstGeom prst="rect">
            <a:avLst/>
          </a:prstGeom>
          <a:solidFill>
            <a:srgbClr val="F3B23C"/>
          </a:solidFill>
          <a:ln w="12700">
            <a:solidFill>
              <a:srgbClr val="F3B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159752" y="313182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26,7%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663440" y="354101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C2633"/>
                </a:solidFill>
              </a:rPr>
              <a:t>2 prod.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0" y="3495294"/>
            <a:ext cx="1600200" cy="219456"/>
          </a:xfrm>
          <a:prstGeom prst="rect">
            <a:avLst/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486400" y="3495294"/>
            <a:ext cx="134257" cy="219456"/>
          </a:xfrm>
          <a:prstGeom prst="rect">
            <a:avLst/>
          </a:prstGeom>
          <a:solidFill>
            <a:srgbClr val="5BA67D"/>
          </a:solidFill>
          <a:ln w="12700">
            <a:solidFill>
              <a:srgbClr val="5BA6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159752" y="3531870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D6673"/>
                </a:solidFill>
              </a:rPr>
              <a:t>8,4%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84582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Otros segmentos críticos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66760" y="2221992"/>
            <a:ext cx="28346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050" dirty="0">
                <a:solidFill>
                  <a:srgbClr val="1C2633"/>
                </a:solidFill>
              </a:rPr>
              <a:t>Alemania: 29,96% churn observado.</a:t>
            </a:r>
            <a:endParaRPr lang="en-US" sz="1050" dirty="0"/>
          </a:p>
          <a:p>
            <a:r>
              <a:rPr lang="en-US" sz="1050" dirty="0">
                <a:solidFill>
                  <a:srgbClr val="1C2633"/>
                </a:solidFill>
              </a:rPr>
              <a:t>Inactivos: 27,48% churn observado.</a:t>
            </a:r>
            <a:endParaRPr lang="en-US" sz="1050" dirty="0"/>
          </a:p>
          <a:p>
            <a:r>
              <a:rPr lang="en-US" sz="1050" dirty="0">
                <a:solidFill>
                  <a:srgbClr val="1C2633"/>
                </a:solidFill>
              </a:rPr>
              <a:t>Saldo positivo: 23,55% churn observado.</a:t>
            </a:r>
            <a:endParaRPr lang="en-US" sz="1050" dirty="0"/>
          </a:p>
          <a:p>
            <a:r>
              <a:rPr lang="en-US" sz="1050" dirty="0">
                <a:solidFill>
                  <a:srgbClr val="1C2633"/>
                </a:solidFill>
              </a:rPr>
              <a:t>Saldo medio-bajo: 27,36% churn observado.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14400" y="525780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Insight principal: el mayor riesgo combina edad media/madura, inactividad, saldo positivo, un producto o sobre-vinculación, y presencia en Alemania.</a:t>
            </a:r>
            <a:endParaRPr lang="en-US" sz="1400" dirty="0"/>
          </a:p>
        </p:txBody>
      </p:sp>
      <p:pic>
        <p:nvPicPr>
          <p:cNvPr id="52" name="drawing">
            <a:extLst>
              <a:ext uri="{FF2B5EF4-FFF2-40B4-BE49-F238E27FC236}">
                <a16:creationId xmlns:a16="http://schemas.microsoft.com/office/drawing/2014/main" id="{8E4039C3-79BA-0067-AD7B-A7A15C2CA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134874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Michelle Retamales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9. Acciones recomendadas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Convertir probabilidades en campañas de retención accionables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2492197" cy="495300"/>
          </a:xfrm>
          <a:prstGeom prst="rect">
            <a:avLst/>
          </a:prstGeom>
          <a:solidFill>
            <a:srgbClr val="1F9D8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" y="1901952"/>
            <a:ext cx="2364181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Acción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177997" y="1828800"/>
            <a:ext cx="2925623" cy="495300"/>
          </a:xfrm>
          <a:prstGeom prst="rect">
            <a:avLst/>
          </a:prstGeom>
          <a:solidFill>
            <a:srgbClr val="1F9D8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42005" y="1901952"/>
            <a:ext cx="2797607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Segmento objetivo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103620" y="1828800"/>
            <a:ext cx="5417820" cy="495300"/>
          </a:xfrm>
          <a:prstGeom prst="rect">
            <a:avLst/>
          </a:prstGeom>
          <a:solidFill>
            <a:srgbClr val="1F9D8A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167628" y="1901952"/>
            <a:ext cx="528980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Qué hacer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85800" y="2324100"/>
            <a:ext cx="2492197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9808" y="2397252"/>
            <a:ext cx="2364181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Reactivación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177997" y="2324100"/>
            <a:ext cx="2925623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242005" y="2397252"/>
            <a:ext cx="2797607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Clientes inactivos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103620" y="2324100"/>
            <a:ext cx="5417820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167628" y="2397252"/>
            <a:ext cx="528980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Incentivos por uso de app, cuenta y tarjeta.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85800" y="2819400"/>
            <a:ext cx="2492197" cy="495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49808" y="2892552"/>
            <a:ext cx="2364181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Oferta inteligente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3177997" y="2819400"/>
            <a:ext cx="2925623" cy="495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242005" y="2892552"/>
            <a:ext cx="2797607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Clientes con 1 producto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103620" y="2819400"/>
            <a:ext cx="5417820" cy="495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167628" y="2892552"/>
            <a:ext cx="528980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Proponer segundo producto útil, no venta forzada.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85800" y="3314700"/>
            <a:ext cx="2492197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49808" y="3387852"/>
            <a:ext cx="2364181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Diagnóstico local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177997" y="3314700"/>
            <a:ext cx="2925623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242005" y="3387852"/>
            <a:ext cx="2797607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Alemania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6103620" y="3314700"/>
            <a:ext cx="5417820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167628" y="3387852"/>
            <a:ext cx="528980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Revisar servicio, costos, beneficios y competencia.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85800" y="3810000"/>
            <a:ext cx="2492197" cy="495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49808" y="3883152"/>
            <a:ext cx="2364181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Protección de valor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3177997" y="3810000"/>
            <a:ext cx="2925623" cy="495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242005" y="3883152"/>
            <a:ext cx="2797607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Saldo positivo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6103620" y="3810000"/>
            <a:ext cx="5417820" cy="4953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167628" y="3883152"/>
            <a:ext cx="528980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Contacto preventivo y beneficios personalizados.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85800" y="4305300"/>
            <a:ext cx="2492197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49808" y="4378452"/>
            <a:ext cx="2364181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Revisión de cartera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3177997" y="4305300"/>
            <a:ext cx="2925623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242005" y="4378452"/>
            <a:ext cx="2797607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3-4 productos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103620" y="4305300"/>
            <a:ext cx="5417820" cy="495300"/>
          </a:xfrm>
          <a:prstGeom prst="rect">
            <a:avLst/>
          </a:prstGeom>
          <a:solidFill>
            <a:srgbClr val="F1F5F9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167628" y="4378452"/>
            <a:ext cx="528980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C2633"/>
                </a:solidFill>
              </a:rPr>
              <a:t>Detectar sobreventa, costos o baja satisfacción.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914400" y="534924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La campaña no debe ser igual para todos: riesgo alto + valor alto requiere intervención personalizada; riesgo medio puede gestionarse con automatización.</a:t>
            </a:r>
            <a:endParaRPr lang="en-US" sz="1400" dirty="0"/>
          </a:p>
        </p:txBody>
      </p:sp>
      <p:pic>
        <p:nvPicPr>
          <p:cNvPr id="48" name="drawing">
            <a:extLst>
              <a:ext uri="{FF2B5EF4-FFF2-40B4-BE49-F238E27FC236}">
                <a16:creationId xmlns:a16="http://schemas.microsoft.com/office/drawing/2014/main" id="{42CC5F33-609D-3782-1265-44E4DAFC0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8065" y="106299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Michelle Retamales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1098423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10. Meta próximo trimestre: reducir churn en 10%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537498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Objetivo alcanzable si se interviene el grupo correcto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03258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12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5D5D"/>
                </a:solidFill>
              </a:rPr>
              <a:t>407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8680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churners reales en prueba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8A"/>
                </a:solidFill>
              </a:rPr>
              <a:t>≈41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clientes a retener para bajar 10%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77B4"/>
                </a:solidFill>
              </a:rPr>
              <a:t>4,1%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37960" y="2578608"/>
            <a:ext cx="3200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673"/>
                </a:solidFill>
              </a:rPr>
              <a:t>efectividad necesaria sobre alto riesgo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10241280" cy="1143000"/>
          </a:xfrm>
          <a:prstGeom prst="roundRect">
            <a:avLst>
              <a:gd name="adj" fmla="val 9600"/>
            </a:avLst>
          </a:prstGeom>
          <a:solidFill>
            <a:srgbClr val="FFF3D6"/>
          </a:solidFill>
          <a:ln w="12700">
            <a:solidFill>
              <a:srgbClr val="F3D9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18872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Plan operativo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60857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C2633"/>
                </a:solidFill>
              </a:rPr>
              <a:t>1) Scoring mensual  2) Contacto a alto riesgo  3) Oferta diferenciada  4) Medición de churn evitado, respuesta y costo por cliente retenido.</a:t>
            </a:r>
            <a:endParaRPr lang="en-US" sz="1220" dirty="0"/>
          </a:p>
        </p:txBody>
      </p:sp>
      <p:pic>
        <p:nvPicPr>
          <p:cNvPr id="20" name="drawing">
            <a:extLst>
              <a:ext uri="{FF2B5EF4-FFF2-40B4-BE49-F238E27FC236}">
                <a16:creationId xmlns:a16="http://schemas.microsoft.com/office/drawing/2014/main" id="{A24BBAF7-DF94-C1E5-C987-EFD54A496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0851" y="126873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ABC Bank | Churn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DCE7F1"/>
                </a:solidFill>
              </a:rPr>
              <a:t>Expone: Michelle Retamales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11. Cierre ejecutivo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3"/>
                </a:solidFill>
              </a:rPr>
              <a:t>El valor del proyecto está en convertir datos en decisiones de retención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10996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10996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673"/>
                </a:solidFill>
              </a:rPr>
              <a:t>Presentación oral | Slide 13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Conclusión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5760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C2633"/>
                </a:solidFill>
              </a:rPr>
              <a:t>Gradient Boosting permite priorizar clientes con mayor riesgo de fuga y guiar campañas focalizadas. El modelo no debe usarse como verdad causal, sino como apoyo para decidir dónde invertir primero.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0" y="1874520"/>
            <a:ext cx="3566160" cy="2971800"/>
          </a:xfrm>
          <a:prstGeom prst="roundRect">
            <a:avLst>
              <a:gd name="adj" fmla="val 369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63524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B23C"/>
                </a:solidFill>
              </a:rPr>
              <a:t>Recomendación final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2880360"/>
            <a:ext cx="2926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Implementar scoring periódico, campañas por segmento y medición continua del retorno de retención.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9D8A"/>
                </a:solidFill>
              </a:rPr>
              <a:t>Próximo paso: piloto de 90 días con clientes de alto riesgo y seguimiento de churn evitado.</a:t>
            </a:r>
            <a:endParaRPr lang="en-US" sz="1400" dirty="0"/>
          </a:p>
        </p:txBody>
      </p:sp>
      <p:pic>
        <p:nvPicPr>
          <p:cNvPr id="17" name="drawing">
            <a:extLst>
              <a:ext uri="{FF2B5EF4-FFF2-40B4-BE49-F238E27FC236}">
                <a16:creationId xmlns:a16="http://schemas.microsoft.com/office/drawing/2014/main" id="{19CE2369-7EE5-4904-37E1-EFBD9FA43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6017" y="134875"/>
            <a:ext cx="5724525" cy="971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1216</Words>
  <Application>Microsoft Office PowerPoint</Application>
  <PresentationFormat>Panorámica</PresentationFormat>
  <Paragraphs>274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ABC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Bank - Presentación ejecutiva de churn</dc:title>
  <dc:subject>Predicción de churn y recomendaciones de negocio</dc:subject>
  <dc:creator>ABC Bank Project Team</dc:creator>
  <cp:lastModifiedBy>Nicolas Collao</cp:lastModifiedBy>
  <cp:revision>2</cp:revision>
  <dcterms:created xsi:type="dcterms:W3CDTF">2026-06-22T07:49:54Z</dcterms:created>
  <dcterms:modified xsi:type="dcterms:W3CDTF">2026-06-27T22:12:24Z</dcterms:modified>
</cp:coreProperties>
</file>